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/>
    <p:restoredTop sz="94603"/>
  </p:normalViewPr>
  <p:slideViewPr>
    <p:cSldViewPr snapToGrid="0" snapToObjects="1">
      <p:cViewPr varScale="1">
        <p:scale>
          <a:sx n="102" d="100"/>
          <a:sy n="102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49AF-AC17-3044-8672-7A70E99B4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2A5F6-917A-3740-9B52-6950023A1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C6A8C-9F28-1740-A45F-D98FA98F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5DA75-947F-544C-A624-5DBDFF38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859EF-5302-D64E-9A73-41E7C77D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6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AD68-09FB-F448-AE7A-2C64D670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0EDC-75BB-2B4C-AE9F-7D78035BF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F41D0-0D82-964E-9A4B-9CFC510A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4BFE-364A-B646-BC6A-BB590AE3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1081-7918-CE4C-8E85-630E5BCF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1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CA8C-ED34-FF45-8B48-B5927AE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169FF-4F25-AC46-B96E-3997735EA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03D40-1AB4-5E46-9966-08FFD622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1F17-2305-F048-9DE7-74E58069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3F740-8719-4A41-A728-9B5D65AA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7A32-DE12-C642-B86C-22D67C59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76CD-15C0-9843-AFB1-B3A222476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44B99-46DC-C54B-9C9A-F272DF161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1C1EC-6C35-4D40-B410-2D734C65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1244A-F574-7946-B0B1-D21D0323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A0353-4E61-9E46-B814-1531CE8A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7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7A23-886F-AA43-BA38-4CAF40DF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FBA79-2DDE-6B49-AAEF-CE39C0F6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9028F-348B-EC4F-ABFD-12C2DDA39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B6D32-14F9-0F4E-BC48-ECD0F1FCB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13575-0527-6840-B620-E2D621962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F8AAA7-9A73-7541-A9E1-07D8FF3D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CA639-0FAE-5249-922F-D28D7055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4BA4B-2686-204D-BDB8-E490115F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3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4F01-2F82-A14A-AB7C-1090CAF7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A3221-E7BE-BD45-BB39-CE34250B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28783-B7E7-2546-81B4-4976277C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3797A-27FE-3843-B5D3-D6C0A5BE3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DDF79-17BD-B942-87E5-1957DBCB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6468F-44C7-6240-AFA9-2AAA1A99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E88B7-542D-0B44-A069-1703222A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A869-7CBD-114E-99EB-4AEA3521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7BBB5-6001-274C-98C7-912461A5B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AD176-DD43-084A-90E1-D9912F7EE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4848B-B825-5F40-BE46-E6C0025B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645C9-865F-7D46-8460-AAE5DE3E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94A5C-7BC9-834B-8F50-E5A68B95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8140-F425-284F-9B73-2C99EB36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BCD24-6CF5-1D4D-99AF-A9661BE23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8A56B-CBB2-4741-8CF5-CC3D4080C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39D19-4CDC-B848-95E0-872A7EB2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D6BF0-8D1F-B44B-AB82-CC0F12F9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74CBF-F2EE-704A-A420-6CF492AD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8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5673-EAD8-9042-B2D3-A56A4737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44B5A-715F-704C-86F1-1C37EC9C0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6D062-1816-0943-BCE3-0E8E7BEF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46017-20DC-F648-8E59-B11F95EF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71A41-BC88-184C-95CC-49CFD7BD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4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EA355-3076-F841-A699-221257783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158FA-3944-994B-B370-970F4ECAD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0ECE8-28C9-C94F-BD4C-29FF6866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9D81D-FED1-894D-B630-54F110B5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C7DA7-6DB7-364A-BB1B-AD834AA4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8ADC89-7F72-1442-80E9-0FBDB860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3DD07-4DCC-994C-AFE5-6921941E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E7118-4055-814D-AD9A-7612CD432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06C27-DE5B-F644-A375-D93D66BD4F48}" type="datetimeFigureOut">
              <a:rPr lang="en-US" smtClean="0"/>
              <a:t>7/18/20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42FE8-E6BA-5340-9277-EC67846E5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BA31-CA1D-7941-8111-E44F3D422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D3B4C-FDFF-B349-BBE1-DBBD10BB4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6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5924811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About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91B1741-3DD5-A74E-AFED-59D3E2D1CF87}"/>
              </a:ext>
            </a:extLst>
          </p:cNvPr>
          <p:cNvSpPr/>
          <p:nvPr/>
        </p:nvSpPr>
        <p:spPr>
          <a:xfrm>
            <a:off x="696494" y="1262744"/>
            <a:ext cx="5064285" cy="5162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143D16-EE16-B64B-A27A-36E9B08A4239}"/>
              </a:ext>
            </a:extLst>
          </p:cNvPr>
          <p:cNvSpPr/>
          <p:nvPr/>
        </p:nvSpPr>
        <p:spPr>
          <a:xfrm>
            <a:off x="6402194" y="1262744"/>
            <a:ext cx="5064092" cy="5162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FC6E2A-A1B8-634A-AEA5-711367A5218D}"/>
              </a:ext>
            </a:extLst>
          </p:cNvPr>
          <p:cNvCxnSpPr/>
          <p:nvPr/>
        </p:nvCxnSpPr>
        <p:spPr>
          <a:xfrm>
            <a:off x="6081486" y="1262744"/>
            <a:ext cx="0" cy="4847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5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5924811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79660-12C3-B945-836B-CCA1380A41D2}"/>
              </a:ext>
            </a:extLst>
          </p:cNvPr>
          <p:cNvSpPr txBox="1"/>
          <p:nvPr/>
        </p:nvSpPr>
        <p:spPr>
          <a:xfrm>
            <a:off x="732831" y="1121265"/>
            <a:ext cx="419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Electoral College vote allocations in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7CED3-FAA7-8B4C-8384-3CC03D8A223C}"/>
              </a:ext>
            </a:extLst>
          </p:cNvPr>
          <p:cNvSpPr txBox="1"/>
          <p:nvPr/>
        </p:nvSpPr>
        <p:spPr>
          <a:xfrm>
            <a:off x="732831" y="2150486"/>
            <a:ext cx="3703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Presidential election results in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F46C2-1485-7644-B3B5-4B1BB1FEC081}"/>
              </a:ext>
            </a:extLst>
          </p:cNvPr>
          <p:cNvSpPr txBox="1"/>
          <p:nvPr/>
        </p:nvSpPr>
        <p:spPr>
          <a:xfrm>
            <a:off x="745357" y="3124386"/>
            <a:ext cx="371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Presidential election polling in system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C7E82E7-19DC-1747-A2C8-EB60F6A4BA44}"/>
              </a:ext>
            </a:extLst>
          </p:cNvPr>
          <p:cNvSpPr/>
          <p:nvPr/>
        </p:nvSpPr>
        <p:spPr>
          <a:xfrm>
            <a:off x="6439225" y="1466864"/>
            <a:ext cx="2116898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Cross-check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99F2C-C8BF-8C42-89B5-79ED6EA40980}"/>
              </a:ext>
            </a:extLst>
          </p:cNvPr>
          <p:cNvSpPr txBox="1"/>
          <p:nvPr/>
        </p:nvSpPr>
        <p:spPr>
          <a:xfrm>
            <a:off x="745357" y="4687960"/>
            <a:ext cx="2296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Download polling data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E71093-FF83-E54D-8D53-D4EE9B041B61}"/>
              </a:ext>
            </a:extLst>
          </p:cNvPr>
          <p:cNvSpPr/>
          <p:nvPr/>
        </p:nvSpPr>
        <p:spPr>
          <a:xfrm>
            <a:off x="732831" y="1526563"/>
            <a:ext cx="4195316" cy="526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2004, 2008, 2012, 2016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B66999-DEC0-1F4C-9186-184424AE8039}"/>
              </a:ext>
            </a:extLst>
          </p:cNvPr>
          <p:cNvSpPr/>
          <p:nvPr/>
        </p:nvSpPr>
        <p:spPr>
          <a:xfrm>
            <a:off x="709867" y="2555783"/>
            <a:ext cx="4218280" cy="526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2004, 2008, 2012, 2016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CA6AF5F-76DE-A245-9F0E-C67BA04A2668}"/>
              </a:ext>
            </a:extLst>
          </p:cNvPr>
          <p:cNvSpPr/>
          <p:nvPr/>
        </p:nvSpPr>
        <p:spPr>
          <a:xfrm>
            <a:off x="749533" y="3534899"/>
            <a:ext cx="4178614" cy="526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2004, 2008, 2012, 2016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27A0D-D58F-6243-B306-95532D846BA8}"/>
              </a:ext>
            </a:extLst>
          </p:cNvPr>
          <p:cNvSpPr txBox="1"/>
          <p:nvPr/>
        </p:nvSpPr>
        <p:spPr>
          <a:xfrm>
            <a:off x="6460805" y="1121265"/>
            <a:ext cx="125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Verification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3DFD44-CCA2-5D40-8F35-FD6DF65E9CD5}"/>
              </a:ext>
            </a:extLst>
          </p:cNvPr>
          <p:cNvCxnSpPr/>
          <p:nvPr/>
        </p:nvCxnSpPr>
        <p:spPr>
          <a:xfrm>
            <a:off x="6212910" y="889348"/>
            <a:ext cx="0" cy="3351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6C0B6EB-3302-7343-8445-6B99E8442C4C}"/>
              </a:ext>
            </a:extLst>
          </p:cNvPr>
          <p:cNvSpPr/>
          <p:nvPr/>
        </p:nvSpPr>
        <p:spPr>
          <a:xfrm>
            <a:off x="6439226" y="2335152"/>
            <a:ext cx="5109772" cy="16355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6A5974-FDCD-CF4F-8923-FE0B11F71E6A}"/>
              </a:ext>
            </a:extLst>
          </p:cNvPr>
          <p:cNvCxnSpPr/>
          <p:nvPr/>
        </p:nvCxnSpPr>
        <p:spPr>
          <a:xfrm>
            <a:off x="745357" y="4421688"/>
            <a:ext cx="108036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634348-E563-F049-AAF0-18B3214278DF}"/>
              </a:ext>
            </a:extLst>
          </p:cNvPr>
          <p:cNvSpPr/>
          <p:nvPr/>
        </p:nvSpPr>
        <p:spPr>
          <a:xfrm>
            <a:off x="5739027" y="4634157"/>
            <a:ext cx="2116898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A895F7-B014-1E46-B3D1-DFD3D9F8ABDC}"/>
              </a:ext>
            </a:extLst>
          </p:cNvPr>
          <p:cNvSpPr/>
          <p:nvPr/>
        </p:nvSpPr>
        <p:spPr>
          <a:xfrm>
            <a:off x="3289135" y="4639668"/>
            <a:ext cx="2116898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BF0B6C-31A5-8847-BC64-861CBD1CD10A}"/>
              </a:ext>
            </a:extLst>
          </p:cNvPr>
          <p:cNvSpPr/>
          <p:nvPr/>
        </p:nvSpPr>
        <p:spPr>
          <a:xfrm>
            <a:off x="696494" y="5470402"/>
            <a:ext cx="10852503" cy="954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1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5924811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1356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forecast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1DBF4C-646C-944B-9F6F-550C8513FC12}"/>
              </a:ext>
            </a:extLst>
          </p:cNvPr>
          <p:cNvSpPr txBox="1"/>
          <p:nvPr/>
        </p:nvSpPr>
        <p:spPr>
          <a:xfrm>
            <a:off x="745357" y="1255836"/>
            <a:ext cx="231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year for analysis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786F6EB-51A0-A34C-AC8A-B776F7E5EFFF}"/>
              </a:ext>
            </a:extLst>
          </p:cNvPr>
          <p:cNvSpPr/>
          <p:nvPr/>
        </p:nvSpPr>
        <p:spPr>
          <a:xfrm>
            <a:off x="5739027" y="1202033"/>
            <a:ext cx="2116898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forecast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2F1B00-34A4-A047-BA55-DE018ABD184F}"/>
              </a:ext>
            </a:extLst>
          </p:cNvPr>
          <p:cNvSpPr/>
          <p:nvPr/>
        </p:nvSpPr>
        <p:spPr>
          <a:xfrm>
            <a:off x="3289135" y="1207544"/>
            <a:ext cx="2116898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2008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91B1741-3DD5-A74E-AFED-59D3E2D1CF87}"/>
              </a:ext>
            </a:extLst>
          </p:cNvPr>
          <p:cNvSpPr/>
          <p:nvPr/>
        </p:nvSpPr>
        <p:spPr>
          <a:xfrm>
            <a:off x="696494" y="2075826"/>
            <a:ext cx="10852503" cy="43489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7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5924811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3770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Electoral College vote forecast by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FDBF8-90DA-F349-872F-719F52CC0364}"/>
              </a:ext>
            </a:extLst>
          </p:cNvPr>
          <p:cNvSpPr/>
          <p:nvPr/>
        </p:nvSpPr>
        <p:spPr>
          <a:xfrm>
            <a:off x="1678488" y="1553227"/>
            <a:ext cx="9144000" cy="39331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FD19FC-D36F-9C4E-B675-B83F39C17128}"/>
              </a:ext>
            </a:extLst>
          </p:cNvPr>
          <p:cNvCxnSpPr>
            <a:endCxn id="2" idx="3"/>
          </p:cNvCxnSpPr>
          <p:nvPr/>
        </p:nvCxnSpPr>
        <p:spPr>
          <a:xfrm>
            <a:off x="1665962" y="3519814"/>
            <a:ext cx="91565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5045F6A-A157-4748-A73B-3161105DE7BE}"/>
              </a:ext>
            </a:extLst>
          </p:cNvPr>
          <p:cNvSpPr/>
          <p:nvPr/>
        </p:nvSpPr>
        <p:spPr>
          <a:xfrm>
            <a:off x="1678488" y="3507288"/>
            <a:ext cx="9144000" cy="1979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350967-9822-2948-8776-3B0181B92C3F}"/>
              </a:ext>
            </a:extLst>
          </p:cNvPr>
          <p:cNvSpPr/>
          <p:nvPr/>
        </p:nvSpPr>
        <p:spPr>
          <a:xfrm>
            <a:off x="1693102" y="1530268"/>
            <a:ext cx="9144000" cy="1979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073F9-1CF5-784F-8A5E-7AD209A80A2F}"/>
              </a:ext>
            </a:extLst>
          </p:cNvPr>
          <p:cNvSpPr txBox="1"/>
          <p:nvPr/>
        </p:nvSpPr>
        <p:spPr>
          <a:xfrm>
            <a:off x="5588696" y="5624372"/>
            <a:ext cx="676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C23C0-0BA9-5D49-AA03-AC261D81CD2D}"/>
              </a:ext>
            </a:extLst>
          </p:cNvPr>
          <p:cNvSpPr txBox="1"/>
          <p:nvPr/>
        </p:nvSpPr>
        <p:spPr>
          <a:xfrm rot="16200000">
            <a:off x="78474" y="2978433"/>
            <a:ext cx="247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Electoral College votes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30E30F-86FF-4B4B-9565-0B764346E690}"/>
              </a:ext>
            </a:extLst>
          </p:cNvPr>
          <p:cNvCxnSpPr>
            <a:cxnSpLocks/>
          </p:cNvCxnSpPr>
          <p:nvPr/>
        </p:nvCxnSpPr>
        <p:spPr>
          <a:xfrm flipV="1">
            <a:off x="1836751" y="2271693"/>
            <a:ext cx="8530226" cy="718156"/>
          </a:xfrm>
          <a:prstGeom prst="line">
            <a:avLst/>
          </a:prstGeom>
          <a:ln w="2540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B581B3-E9CC-4247-9959-B507E40723B2}"/>
              </a:ext>
            </a:extLst>
          </p:cNvPr>
          <p:cNvCxnSpPr/>
          <p:nvPr/>
        </p:nvCxnSpPr>
        <p:spPr>
          <a:xfrm flipV="1">
            <a:off x="1866378" y="2304789"/>
            <a:ext cx="8442543" cy="713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A6C3BF5-D218-4A44-A48D-C926F5163739}"/>
              </a:ext>
            </a:extLst>
          </p:cNvPr>
          <p:cNvCxnSpPr>
            <a:cxnSpLocks/>
          </p:cNvCxnSpPr>
          <p:nvPr/>
        </p:nvCxnSpPr>
        <p:spPr>
          <a:xfrm>
            <a:off x="1822536" y="3796950"/>
            <a:ext cx="8311020" cy="874211"/>
          </a:xfrm>
          <a:prstGeom prst="line">
            <a:avLst/>
          </a:prstGeom>
          <a:ln w="2540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61C51A-AF7A-5C4C-A006-A2336A989D59}"/>
              </a:ext>
            </a:extLst>
          </p:cNvPr>
          <p:cNvCxnSpPr>
            <a:cxnSpLocks/>
          </p:cNvCxnSpPr>
          <p:nvPr/>
        </p:nvCxnSpPr>
        <p:spPr>
          <a:xfrm>
            <a:off x="1866378" y="3770335"/>
            <a:ext cx="8267178" cy="877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52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6114889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4152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Electoral College vote forecast distribution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FDBF8-90DA-F349-872F-719F52CC0364}"/>
              </a:ext>
            </a:extLst>
          </p:cNvPr>
          <p:cNvSpPr/>
          <p:nvPr/>
        </p:nvSpPr>
        <p:spPr>
          <a:xfrm>
            <a:off x="1678488" y="1277258"/>
            <a:ext cx="9381398" cy="2743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073F9-1CF5-784F-8A5E-7AD209A80A2F}"/>
              </a:ext>
            </a:extLst>
          </p:cNvPr>
          <p:cNvSpPr txBox="1"/>
          <p:nvPr/>
        </p:nvSpPr>
        <p:spPr>
          <a:xfrm>
            <a:off x="4960753" y="4079653"/>
            <a:ext cx="246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Electoral College votes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C23C0-0BA9-5D49-AA03-AC261D81CD2D}"/>
              </a:ext>
            </a:extLst>
          </p:cNvPr>
          <p:cNvSpPr txBox="1"/>
          <p:nvPr/>
        </p:nvSpPr>
        <p:spPr>
          <a:xfrm rot="16200000">
            <a:off x="639919" y="2258476"/>
            <a:ext cx="132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19E3E-77A0-5B47-9829-61099DCF3F38}"/>
              </a:ext>
            </a:extLst>
          </p:cNvPr>
          <p:cNvSpPr txBox="1"/>
          <p:nvPr/>
        </p:nvSpPr>
        <p:spPr>
          <a:xfrm>
            <a:off x="954667" y="5342144"/>
            <a:ext cx="1463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 Democratic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11F74C-7097-A94D-8F02-03123B647B2C}"/>
              </a:ext>
            </a:extLst>
          </p:cNvPr>
          <p:cNvCxnSpPr/>
          <p:nvPr/>
        </p:nvCxnSpPr>
        <p:spPr>
          <a:xfrm>
            <a:off x="946781" y="4659086"/>
            <a:ext cx="103743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124C8B-422B-1A4E-A06D-8CCC11112C52}"/>
              </a:ext>
            </a:extLst>
          </p:cNvPr>
          <p:cNvCxnSpPr/>
          <p:nvPr/>
        </p:nvCxnSpPr>
        <p:spPr>
          <a:xfrm>
            <a:off x="2809072" y="4891401"/>
            <a:ext cx="0" cy="1378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051EF3-0F6E-E742-8B43-B4D5B43029F3}"/>
              </a:ext>
            </a:extLst>
          </p:cNvPr>
          <p:cNvSpPr txBox="1"/>
          <p:nvPr/>
        </p:nvSpPr>
        <p:spPr>
          <a:xfrm>
            <a:off x="946781" y="5736910"/>
            <a:ext cx="1425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 Republican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8E332B-6C5E-3D4B-BA22-B93387E7628E}"/>
              </a:ext>
            </a:extLst>
          </p:cNvPr>
          <p:cNvSpPr txBox="1"/>
          <p:nvPr/>
        </p:nvSpPr>
        <p:spPr>
          <a:xfrm>
            <a:off x="954667" y="4931620"/>
            <a:ext cx="67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C9F212-7AC1-4845-94B7-2B69976115A8}"/>
              </a:ext>
            </a:extLst>
          </p:cNvPr>
          <p:cNvSpPr txBox="1"/>
          <p:nvPr/>
        </p:nvSpPr>
        <p:spPr>
          <a:xfrm>
            <a:off x="3101031" y="4928382"/>
            <a:ext cx="17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Distribution time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9D9312-AF1C-DC42-BBE6-13586CE9DAA6}"/>
              </a:ext>
            </a:extLst>
          </p:cNvPr>
          <p:cNvCxnSpPr/>
          <p:nvPr/>
        </p:nvCxnSpPr>
        <p:spPr>
          <a:xfrm flipV="1">
            <a:off x="3245524" y="5469701"/>
            <a:ext cx="8055429" cy="53976"/>
          </a:xfrm>
          <a:prstGeom prst="straightConnector1">
            <a:avLst/>
          </a:prstGeom>
          <a:ln w="635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A8E5E-0603-D045-A01F-D208F1F4A95A}"/>
              </a:ext>
            </a:extLst>
          </p:cNvPr>
          <p:cNvSpPr txBox="1"/>
          <p:nvPr/>
        </p:nvSpPr>
        <p:spPr>
          <a:xfrm>
            <a:off x="3101031" y="5744357"/>
            <a:ext cx="74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9C88B-E6E4-FF4E-A1F3-78FF408E265B}"/>
              </a:ext>
            </a:extLst>
          </p:cNvPr>
          <p:cNvSpPr txBox="1"/>
          <p:nvPr/>
        </p:nvSpPr>
        <p:spPr>
          <a:xfrm>
            <a:off x="10855560" y="5695664"/>
            <a:ext cx="74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EB6A3-F8C1-534F-BF60-7764B873DD66}"/>
              </a:ext>
            </a:extLst>
          </p:cNvPr>
          <p:cNvSpPr txBox="1"/>
          <p:nvPr/>
        </p:nvSpPr>
        <p:spPr>
          <a:xfrm>
            <a:off x="3101031" y="6149625"/>
            <a:ext cx="145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Selected date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DFE308-9A3B-2F40-BC41-E6AC2D2348A0}"/>
              </a:ext>
            </a:extLst>
          </p:cNvPr>
          <p:cNvSpPr/>
          <p:nvPr/>
        </p:nvSpPr>
        <p:spPr>
          <a:xfrm>
            <a:off x="4557776" y="6066906"/>
            <a:ext cx="2116898" cy="5347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B116F-0179-524C-9393-F1D0DE4CEE09}"/>
              </a:ext>
            </a:extLst>
          </p:cNvPr>
          <p:cNvSpPr txBox="1"/>
          <p:nvPr/>
        </p:nvSpPr>
        <p:spPr>
          <a:xfrm>
            <a:off x="6765600" y="6149625"/>
            <a:ext cx="203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recent is 2012</a:t>
            </a:r>
          </a:p>
        </p:txBody>
      </p:sp>
    </p:spTree>
    <p:extLst>
      <p:ext uri="{BB962C8B-B14F-4D97-AF65-F5344CB8AC3E}">
        <p14:creationId xmlns:p14="http://schemas.microsoft.com/office/powerpoint/2010/main" val="290047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6114889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3520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Electoral College vote by geography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11F74C-7097-A94D-8F02-03123B647B2C}"/>
              </a:ext>
            </a:extLst>
          </p:cNvPr>
          <p:cNvCxnSpPr/>
          <p:nvPr/>
        </p:nvCxnSpPr>
        <p:spPr>
          <a:xfrm>
            <a:off x="946781" y="4659086"/>
            <a:ext cx="103743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0C9F212-7AC1-4845-94B7-2B69976115A8}"/>
              </a:ext>
            </a:extLst>
          </p:cNvPr>
          <p:cNvSpPr txBox="1"/>
          <p:nvPr/>
        </p:nvSpPr>
        <p:spPr>
          <a:xfrm>
            <a:off x="946781" y="490044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9D9312-AF1C-DC42-BBE6-13586CE9DAA6}"/>
              </a:ext>
            </a:extLst>
          </p:cNvPr>
          <p:cNvCxnSpPr>
            <a:cxnSpLocks/>
          </p:cNvCxnSpPr>
          <p:nvPr/>
        </p:nvCxnSpPr>
        <p:spPr>
          <a:xfrm flipV="1">
            <a:off x="1074057" y="5469701"/>
            <a:ext cx="10226896" cy="53834"/>
          </a:xfrm>
          <a:prstGeom prst="straightConnector1">
            <a:avLst/>
          </a:prstGeom>
          <a:ln w="635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A8E5E-0603-D045-A01F-D208F1F4A95A}"/>
              </a:ext>
            </a:extLst>
          </p:cNvPr>
          <p:cNvSpPr txBox="1"/>
          <p:nvPr/>
        </p:nvSpPr>
        <p:spPr>
          <a:xfrm>
            <a:off x="853614" y="5711060"/>
            <a:ext cx="74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9C88B-E6E4-FF4E-A1F3-78FF408E265B}"/>
              </a:ext>
            </a:extLst>
          </p:cNvPr>
          <p:cNvSpPr txBox="1"/>
          <p:nvPr/>
        </p:nvSpPr>
        <p:spPr>
          <a:xfrm>
            <a:off x="10855560" y="5695664"/>
            <a:ext cx="74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EB6A3-F8C1-534F-BF60-7764B873DD66}"/>
              </a:ext>
            </a:extLst>
          </p:cNvPr>
          <p:cNvSpPr txBox="1"/>
          <p:nvPr/>
        </p:nvSpPr>
        <p:spPr>
          <a:xfrm>
            <a:off x="853614" y="6193250"/>
            <a:ext cx="145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Selected date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DFE308-9A3B-2F40-BC41-E6AC2D2348A0}"/>
              </a:ext>
            </a:extLst>
          </p:cNvPr>
          <p:cNvSpPr/>
          <p:nvPr/>
        </p:nvSpPr>
        <p:spPr>
          <a:xfrm>
            <a:off x="2421081" y="6110531"/>
            <a:ext cx="2116898" cy="5347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B116F-0179-524C-9393-F1D0DE4CEE09}"/>
              </a:ext>
            </a:extLst>
          </p:cNvPr>
          <p:cNvSpPr txBox="1"/>
          <p:nvPr/>
        </p:nvSpPr>
        <p:spPr>
          <a:xfrm>
            <a:off x="4791657" y="6193249"/>
            <a:ext cx="203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recent is 2012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9DE94-2BAD-B944-9AA1-EFE5667B4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31" y="1145720"/>
            <a:ext cx="4870839" cy="310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6114889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299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Electoral College vote by state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11F74C-7097-A94D-8F02-03123B647B2C}"/>
              </a:ext>
            </a:extLst>
          </p:cNvPr>
          <p:cNvCxnSpPr/>
          <p:nvPr/>
        </p:nvCxnSpPr>
        <p:spPr>
          <a:xfrm>
            <a:off x="946781" y="4659086"/>
            <a:ext cx="103743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0C9F212-7AC1-4845-94B7-2B69976115A8}"/>
              </a:ext>
            </a:extLst>
          </p:cNvPr>
          <p:cNvSpPr txBox="1"/>
          <p:nvPr/>
        </p:nvSpPr>
        <p:spPr>
          <a:xfrm>
            <a:off x="946781" y="490044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9D9312-AF1C-DC42-BBE6-13586CE9DAA6}"/>
              </a:ext>
            </a:extLst>
          </p:cNvPr>
          <p:cNvCxnSpPr>
            <a:cxnSpLocks/>
          </p:cNvCxnSpPr>
          <p:nvPr/>
        </p:nvCxnSpPr>
        <p:spPr>
          <a:xfrm flipV="1">
            <a:off x="1074057" y="5469701"/>
            <a:ext cx="10226896" cy="53834"/>
          </a:xfrm>
          <a:prstGeom prst="straightConnector1">
            <a:avLst/>
          </a:prstGeom>
          <a:ln w="635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A8E5E-0603-D045-A01F-D208F1F4A95A}"/>
              </a:ext>
            </a:extLst>
          </p:cNvPr>
          <p:cNvSpPr txBox="1"/>
          <p:nvPr/>
        </p:nvSpPr>
        <p:spPr>
          <a:xfrm>
            <a:off x="853614" y="5711060"/>
            <a:ext cx="74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9C88B-E6E4-FF4E-A1F3-78FF408E265B}"/>
              </a:ext>
            </a:extLst>
          </p:cNvPr>
          <p:cNvSpPr txBox="1"/>
          <p:nvPr/>
        </p:nvSpPr>
        <p:spPr>
          <a:xfrm>
            <a:off x="10855560" y="5695664"/>
            <a:ext cx="74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EB6A3-F8C1-534F-BF60-7764B873DD66}"/>
              </a:ext>
            </a:extLst>
          </p:cNvPr>
          <p:cNvSpPr txBox="1"/>
          <p:nvPr/>
        </p:nvSpPr>
        <p:spPr>
          <a:xfrm>
            <a:off x="853614" y="6193250"/>
            <a:ext cx="145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Selected date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DFE308-9A3B-2F40-BC41-E6AC2D2348A0}"/>
              </a:ext>
            </a:extLst>
          </p:cNvPr>
          <p:cNvSpPr/>
          <p:nvPr/>
        </p:nvSpPr>
        <p:spPr>
          <a:xfrm>
            <a:off x="2421081" y="6110531"/>
            <a:ext cx="2116898" cy="5347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B116F-0179-524C-9393-F1D0DE4CEE09}"/>
              </a:ext>
            </a:extLst>
          </p:cNvPr>
          <p:cNvSpPr txBox="1"/>
          <p:nvPr/>
        </p:nvSpPr>
        <p:spPr>
          <a:xfrm>
            <a:off x="4791657" y="6193249"/>
            <a:ext cx="203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recent is 2012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968DB3-579D-9346-B430-13A2EDDBD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17469"/>
              </p:ext>
            </p:extLst>
          </p:nvPr>
        </p:nvGraphicFramePr>
        <p:xfrm>
          <a:off x="1074057" y="1274756"/>
          <a:ext cx="10014858" cy="29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694">
                  <a:extLst>
                    <a:ext uri="{9D8B030D-6E8A-4147-A177-3AD203B41FA5}">
                      <a16:colId xmlns:a16="http://schemas.microsoft.com/office/drawing/2014/main" val="2583461328"/>
                    </a:ext>
                  </a:extLst>
                </a:gridCol>
                <a:gridCol w="1430694">
                  <a:extLst>
                    <a:ext uri="{9D8B030D-6E8A-4147-A177-3AD203B41FA5}">
                      <a16:colId xmlns:a16="http://schemas.microsoft.com/office/drawing/2014/main" val="117871924"/>
                    </a:ext>
                  </a:extLst>
                </a:gridCol>
                <a:gridCol w="1430694">
                  <a:extLst>
                    <a:ext uri="{9D8B030D-6E8A-4147-A177-3AD203B41FA5}">
                      <a16:colId xmlns:a16="http://schemas.microsoft.com/office/drawing/2014/main" val="2586433292"/>
                    </a:ext>
                  </a:extLst>
                </a:gridCol>
                <a:gridCol w="1430694">
                  <a:extLst>
                    <a:ext uri="{9D8B030D-6E8A-4147-A177-3AD203B41FA5}">
                      <a16:colId xmlns:a16="http://schemas.microsoft.com/office/drawing/2014/main" val="1121428186"/>
                    </a:ext>
                  </a:extLst>
                </a:gridCol>
                <a:gridCol w="1430694">
                  <a:extLst>
                    <a:ext uri="{9D8B030D-6E8A-4147-A177-3AD203B41FA5}">
                      <a16:colId xmlns:a16="http://schemas.microsoft.com/office/drawing/2014/main" val="1067987106"/>
                    </a:ext>
                  </a:extLst>
                </a:gridCol>
                <a:gridCol w="1430694">
                  <a:extLst>
                    <a:ext uri="{9D8B030D-6E8A-4147-A177-3AD203B41FA5}">
                      <a16:colId xmlns:a16="http://schemas.microsoft.com/office/drawing/2014/main" val="3438229921"/>
                    </a:ext>
                  </a:extLst>
                </a:gridCol>
                <a:gridCol w="1430694">
                  <a:extLst>
                    <a:ext uri="{9D8B030D-6E8A-4147-A177-3AD203B41FA5}">
                      <a16:colId xmlns:a16="http://schemas.microsoft.com/office/drawing/2014/main" val="2112979097"/>
                    </a:ext>
                  </a:extLst>
                </a:gridCol>
              </a:tblGrid>
              <a:tr h="588610"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Democrat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Republican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090534"/>
                  </a:ext>
                </a:extLst>
              </a:tr>
              <a:tr h="58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72577"/>
                  </a:ext>
                </a:extLst>
              </a:tr>
              <a:tr h="58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31685"/>
                  </a:ext>
                </a:extLst>
              </a:tr>
              <a:tr h="58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42712"/>
                  </a:ext>
                </a:extLst>
              </a:tr>
              <a:tr h="58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381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50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1B722729-C7DD-954C-902C-883D76022B9A}"/>
              </a:ext>
            </a:extLst>
          </p:cNvPr>
          <p:cNvSpPr/>
          <p:nvPr/>
        </p:nvSpPr>
        <p:spPr>
          <a:xfrm>
            <a:off x="601249" y="576197"/>
            <a:ext cx="11185743" cy="6114889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C27BB-9A7A-1C42-BACC-BF12ACF115DE}"/>
              </a:ext>
            </a:extLst>
          </p:cNvPr>
          <p:cNvSpPr txBox="1"/>
          <p:nvPr/>
        </p:nvSpPr>
        <p:spPr>
          <a:xfrm>
            <a:off x="732831" y="664065"/>
            <a:ext cx="120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Poll viewer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C23E7F-CB81-5A42-B312-F454AD18E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862647"/>
              </p:ext>
            </p:extLst>
          </p:nvPr>
        </p:nvGraphicFramePr>
        <p:xfrm>
          <a:off x="856343" y="1271208"/>
          <a:ext cx="10305141" cy="4926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63">
                  <a:extLst>
                    <a:ext uri="{9D8B030D-6E8A-4147-A177-3AD203B41FA5}">
                      <a16:colId xmlns:a16="http://schemas.microsoft.com/office/drawing/2014/main" val="2994603648"/>
                    </a:ext>
                  </a:extLst>
                </a:gridCol>
                <a:gridCol w="1472163">
                  <a:extLst>
                    <a:ext uri="{9D8B030D-6E8A-4147-A177-3AD203B41FA5}">
                      <a16:colId xmlns:a16="http://schemas.microsoft.com/office/drawing/2014/main" val="1618128267"/>
                    </a:ext>
                  </a:extLst>
                </a:gridCol>
                <a:gridCol w="1472163">
                  <a:extLst>
                    <a:ext uri="{9D8B030D-6E8A-4147-A177-3AD203B41FA5}">
                      <a16:colId xmlns:a16="http://schemas.microsoft.com/office/drawing/2014/main" val="2560701551"/>
                    </a:ext>
                  </a:extLst>
                </a:gridCol>
                <a:gridCol w="1472163">
                  <a:extLst>
                    <a:ext uri="{9D8B030D-6E8A-4147-A177-3AD203B41FA5}">
                      <a16:colId xmlns:a16="http://schemas.microsoft.com/office/drawing/2014/main" val="73174824"/>
                    </a:ext>
                  </a:extLst>
                </a:gridCol>
                <a:gridCol w="1472163">
                  <a:extLst>
                    <a:ext uri="{9D8B030D-6E8A-4147-A177-3AD203B41FA5}">
                      <a16:colId xmlns:a16="http://schemas.microsoft.com/office/drawing/2014/main" val="4175869822"/>
                    </a:ext>
                  </a:extLst>
                </a:gridCol>
                <a:gridCol w="1472163">
                  <a:extLst>
                    <a:ext uri="{9D8B030D-6E8A-4147-A177-3AD203B41FA5}">
                      <a16:colId xmlns:a16="http://schemas.microsoft.com/office/drawing/2014/main" val="3507116906"/>
                    </a:ext>
                  </a:extLst>
                </a:gridCol>
                <a:gridCol w="1472163">
                  <a:extLst>
                    <a:ext uri="{9D8B030D-6E8A-4147-A177-3AD203B41FA5}">
                      <a16:colId xmlns:a16="http://schemas.microsoft.com/office/drawing/2014/main" val="688494641"/>
                    </a:ext>
                  </a:extLst>
                </a:gridCol>
              </a:tblGrid>
              <a:tr h="985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49085"/>
                  </a:ext>
                </a:extLst>
              </a:tr>
              <a:tr h="9852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898070"/>
                  </a:ext>
                </a:extLst>
              </a:tr>
              <a:tr h="9852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14171"/>
                  </a:ext>
                </a:extLst>
              </a:tr>
              <a:tr h="9852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31746"/>
                  </a:ext>
                </a:extLst>
              </a:tr>
              <a:tr h="9852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89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15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11171</TotalTime>
  <Words>133</Words>
  <Application>Microsoft Macintosh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Woodward</dc:creator>
  <cp:lastModifiedBy>Mike Woodward</cp:lastModifiedBy>
  <cp:revision>13</cp:revision>
  <dcterms:created xsi:type="dcterms:W3CDTF">2020-07-07T00:39:27Z</dcterms:created>
  <dcterms:modified xsi:type="dcterms:W3CDTF">2020-07-18T21:21:59Z</dcterms:modified>
</cp:coreProperties>
</file>